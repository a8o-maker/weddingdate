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910df208-b966-f1d1-c43b-40359972fc60}">
          <p14:sldIdLst>
            <p14:sldId id="256"/>
          </p14:sldIdLst>
        </p14:section>
        <p14:section name="초대" id="{f6fd9d11-5505-738a-72a3-e22eea2b4103}">
          <p14:sldIdLst>
            <p14:sldId id="257"/>
          </p14:sldIdLst>
        </p14:section>
        <p14:section name="사양서" id="{7eebeca8-e741-fcb7-8e09-e68babcf165e}">
          <p14:sldIdLst>
            <p14:sldId id="258"/>
          </p14:sldIdLst>
        </p14:section>
        <p14:section name="이야기" id="{9ef84cb1-9994-1bfc-5ed8-1a52fbf326f2}">
          <p14:sldIdLst>
            <p14:sldId id="259"/>
          </p14:sldIdLst>
        </p14:section>
        <p14:section name="일시" id="{ef7588ed-c63b-59d1-d119-1bdfde07e4ae}">
          <p14:sldIdLst>
            <p14:sldId id="260"/>
          </p14:sldIdLst>
        </p14:section>
        <p14:section name="장소" id="{11482275-a27c-dd38-f1b1-c4d221caa33f}">
          <p14:sldIdLst>
            <p14:sldId id="261"/>
          </p14:sldIdLst>
        </p14:section>
        <p14:section name="마음" id="{0d9478aa-14b1-4bc4-cb09-9366065847fc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샌프란시스코와 부산 사이의 직선 거리(약 9,062km)를 인포그래픽으로 표현했습니다.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초대 글과 양가 혼주 관계도.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결혼을 공학 사양서처럼 재치 있게 풀어낸 인포그래픽.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하늘(샌프란시스코)에서 바다(부산)로 내려가는 세로 타임라인. 고도/수심 표기는 재미를 위한 연출입니다.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예식 일시 달력과 '당일 수온' 게이지(재미 요소).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장소 안내와 층별 인포그래픽. 상세 주소(번지)는 확인 후 보완이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마음 전하실 곳과 감사 인사. 계좌번호는 실제 번호로 확인/교체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760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31520"/>
            <a:ext cx="5760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spc="600" kern="0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5760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ap.naver.com/p/search/%EC%96%91%EC%82%B0%20%EB%8D%94%20%EC%A7%80%ED%8E%A0%EB%A6%AC%EC%B2%B4" TargetMode="External"/><Relationship Id="rId4" Type="http://schemas.openxmlformats.org/officeDocument/2006/relationships/hyperlink" Target="https://map.kakao.com/link/search/%EB%8D%94%EC%A7%80%ED%8E%A0%EB%A6%AC%EC%B2%B4" TargetMode="External"/><Relationship Id="rId5" Type="http://schemas.openxmlformats.org/officeDocument/2006/relationships/hyperlink" Target="https://tmap.co.kr" TargetMode="Externa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te eyebrow"/>
          <p:cNvSpPr txBox="1"/>
          <p:nvPr/>
        </p:nvSpPr>
        <p:spPr>
          <a:xfrm>
            <a:off x="548640" y="1051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chemeClr val="accent2"/>
                </a:solidFill>
              </a:rPr>
              <a:t>SAN FRANCISCO  ✈  BUSAN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54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손규수 &amp; 문세화</a:t>
            </a:r>
            <a:endParaRPr lang="en-US" sz="38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468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태평양을 건너 이어진 특별한 인연</a:t>
            </a:r>
            <a:endParaRPr lang="en-US" sz="1500" dirty="0"/>
          </a:p>
        </p:txBody>
      </p:sp>
      <p:sp>
        <p:nvSpPr>
          <p:cNvPr id="5" name="SF dot"/>
          <p:cNvSpPr/>
          <p:nvPr/>
        </p:nvSpPr>
        <p:spPr>
          <a:xfrm>
            <a:off x="905256" y="575157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Busan dot"/>
          <p:cNvSpPr/>
          <p:nvPr/>
        </p:nvSpPr>
        <p:spPr>
          <a:xfrm>
            <a:off x="5751576" y="575157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la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4389120"/>
            <a:ext cx="548640" cy="548640"/>
          </a:xfrm>
          <a:prstGeom prst="rect">
            <a:avLst/>
          </a:prstGeom>
        </p:spPr>
      </p:pic>
      <p:sp>
        <p:nvSpPr>
          <p:cNvPr id="8" name="SF label"/>
          <p:cNvSpPr txBox="1"/>
          <p:nvPr/>
        </p:nvSpPr>
        <p:spPr>
          <a:xfrm>
            <a:off x="274320" y="6080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</a:rPr>
              <a:t>SAN FRANCISCO</a:t>
            </a:r>
            <a:endParaRPr lang="en-US" sz="1000" dirty="0"/>
          </a:p>
        </p:txBody>
      </p:sp>
      <p:sp>
        <p:nvSpPr>
          <p:cNvPr id="9" name="Busan label"/>
          <p:cNvSpPr txBox="1"/>
          <p:nvPr/>
        </p:nvSpPr>
        <p:spPr>
          <a:xfrm>
            <a:off x="5120640" y="6080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BUSAN</a:t>
            </a:r>
            <a:endParaRPr lang="en-US" sz="1000" dirty="0"/>
          </a:p>
        </p:txBody>
      </p:sp>
      <p:sp>
        <p:nvSpPr>
          <p:cNvPr id="10" name="Distance stat"/>
          <p:cNvSpPr txBox="1"/>
          <p:nvPr/>
        </p:nvSpPr>
        <p:spPr>
          <a:xfrm>
            <a:off x="548640" y="66751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9,062</a:t>
            </a:r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 km</a:t>
            </a:r>
            <a:endParaRPr lang="en-US" sz="6000" dirty="0"/>
          </a:p>
        </p:txBody>
      </p:sp>
      <p:sp>
        <p:nvSpPr>
          <p:cNvPr id="11" name="Distance caption"/>
          <p:cNvSpPr txBox="1"/>
          <p:nvPr/>
        </p:nvSpPr>
        <p:spPr>
          <a:xfrm>
            <a:off x="548640" y="7635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샌프란시스코와 부산 사이, 두 사람이 건너온 거리</a:t>
            </a:r>
            <a:endParaRPr lang="en-US" sz="1200" dirty="0"/>
          </a:p>
        </p:txBody>
      </p:sp>
      <p:sp>
        <p:nvSpPr>
          <p:cNvPr id="12" name="Zero km"/>
          <p:cNvSpPr txBox="1"/>
          <p:nvPr/>
        </p:nvSpPr>
        <p:spPr>
          <a:xfrm>
            <a:off x="548640" y="80010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그리고 오늘부터 두 사람 사이의 거리  </a:t>
            </a:r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 km</a:t>
            </a:r>
            <a:endParaRPr lang="en-US" sz="1400" dirty="0"/>
          </a:p>
        </p:txBody>
      </p:sp>
      <p:sp>
        <p:nvSpPr>
          <p:cNvPr id="13" name="Date card"/>
          <p:cNvSpPr/>
          <p:nvPr/>
        </p:nvSpPr>
        <p:spPr>
          <a:xfrm>
            <a:off x="822960" y="9144000"/>
            <a:ext cx="5212080" cy="1737360"/>
          </a:xfrm>
          <a:prstGeom prst="roundRect">
            <a:avLst>
              <a:gd name="adj" fmla="val 1157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Card eyebrow"/>
          <p:cNvSpPr txBox="1"/>
          <p:nvPr/>
        </p:nvSpPr>
        <p:spPr>
          <a:xfrm>
            <a:off x="822960" y="9372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chemeClr val="accent1"/>
                </a:solidFill>
              </a:rPr>
              <a:t>WE'RE GETTING MARRIED</a:t>
            </a:r>
            <a:endParaRPr lang="en-US" sz="1000" dirty="0"/>
          </a:p>
        </p:txBody>
      </p:sp>
      <p:sp>
        <p:nvSpPr>
          <p:cNvPr id="15" name="Date"/>
          <p:cNvSpPr txBox="1"/>
          <p:nvPr/>
        </p:nvSpPr>
        <p:spPr>
          <a:xfrm>
            <a:off x="822960" y="9738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2026. 10. 25. SUN  12:30</a:t>
            </a:r>
            <a:endParaRPr lang="en-US" sz="2200" dirty="0"/>
          </a:p>
        </p:txBody>
      </p:sp>
      <p:sp>
        <p:nvSpPr>
          <p:cNvPr id="16" name="Venue"/>
          <p:cNvSpPr txBox="1"/>
          <p:nvPr/>
        </p:nvSpPr>
        <p:spPr>
          <a:xfrm>
            <a:off x="822960" y="10287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양산 더 지펠리체 5층 팰리스홀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31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chemeClr val="accent1"/>
                </a:solidFill>
              </a:rPr>
              <a:t>INVITATION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소중한 분들을 모십니다</a:t>
            </a:r>
            <a:endParaRPr lang="en-US" sz="3000" dirty="0"/>
          </a:p>
        </p:txBody>
      </p:sp>
      <p:sp>
        <p:nvSpPr>
          <p:cNvPr id="4" name="Letter card"/>
          <p:cNvSpPr/>
          <p:nvPr/>
        </p:nvSpPr>
        <p:spPr>
          <a:xfrm>
            <a:off x="548640" y="2148840"/>
            <a:ext cx="5760720" cy="5120640"/>
          </a:xfrm>
          <a:prstGeom prst="roundRect">
            <a:avLst>
              <a:gd name="adj" fmla="val 39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Invitation letter"/>
          <p:cNvSpPr txBox="1"/>
          <p:nvPr/>
        </p:nvSpPr>
        <p:spPr>
          <a:xfrm>
            <a:off x="822960" y="2377440"/>
            <a:ext cx="5212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오차 없는 설계를 사랑하는 사람과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꾸밈없는 기록을 사랑하는 사람이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인생이라는 가장 긴 프로젝트를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함께 시작합니다.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설계도에 없던 행복과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대본에 없던 웃음으로 채워 가겠습니다.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귀한 걸음 하시어 두 사람의 첫 장면을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따뜻한 축복으로 지켜봐 주시면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더없는 기쁨으로 간직하겠습니다.</a:t>
            </a:r>
            <a:endParaRPr lang="en-US" sz="1500" dirty="0"/>
          </a:p>
        </p:txBody>
      </p:sp>
      <p:sp>
        <p:nvSpPr>
          <p:cNvPr id="6" name="Parents 1"/>
          <p:cNvSpPr/>
          <p:nvPr/>
        </p:nvSpPr>
        <p:spPr>
          <a:xfrm>
            <a:off x="685800" y="781812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Parents name 1"/>
          <p:cNvSpPr txBox="1"/>
          <p:nvPr/>
        </p:nvSpPr>
        <p:spPr>
          <a:xfrm>
            <a:off x="685800" y="7818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손영길 · 김정숙</a:t>
            </a:r>
            <a:endParaRPr lang="en-US" sz="1500" dirty="0"/>
          </a:p>
        </p:txBody>
      </p:sp>
      <p:sp>
        <p:nvSpPr>
          <p:cNvPr id="8" name="Family line 1"/>
          <p:cNvSpPr/>
          <p:nvPr/>
        </p:nvSpPr>
        <p:spPr>
          <a:xfrm>
            <a:off x="1920240" y="84582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prstDash val="dash"/>
          </a:ln>
        </p:spPr>
      </p:sp>
      <p:sp>
        <p:nvSpPr>
          <p:cNvPr id="9" name="Relation 1"/>
          <p:cNvSpPr txBox="1"/>
          <p:nvPr/>
        </p:nvSpPr>
        <p:spPr>
          <a:xfrm>
            <a:off x="2029968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의 아들</a:t>
            </a:r>
            <a:endParaRPr lang="en-US" sz="1100" dirty="0"/>
          </a:p>
        </p:txBody>
      </p:sp>
      <p:sp>
        <p:nvSpPr>
          <p:cNvPr id="10" name="Couple circle 1"/>
          <p:cNvSpPr/>
          <p:nvPr/>
        </p:nvSpPr>
        <p:spPr>
          <a:xfrm>
            <a:off x="1234440" y="9144000"/>
            <a:ext cx="1371600" cy="13716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Couple name 1"/>
          <p:cNvSpPr txBox="1"/>
          <p:nvPr/>
        </p:nvSpPr>
        <p:spPr>
          <a:xfrm>
            <a:off x="1234440" y="9144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규수</a:t>
            </a:r>
            <a:endParaRPr lang="en-US" sz="2400" dirty="0"/>
          </a:p>
        </p:txBody>
      </p:sp>
      <p:sp>
        <p:nvSpPr>
          <p:cNvPr id="12" name="Parents 2"/>
          <p:cNvSpPr/>
          <p:nvPr/>
        </p:nvSpPr>
        <p:spPr>
          <a:xfrm>
            <a:off x="3703320" y="781812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Parents name 2"/>
          <p:cNvSpPr txBox="1"/>
          <p:nvPr/>
        </p:nvSpPr>
        <p:spPr>
          <a:xfrm>
            <a:off x="3703320" y="7818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문재호 · 박순희</a:t>
            </a:r>
            <a:endParaRPr lang="en-US" sz="1500" dirty="0"/>
          </a:p>
        </p:txBody>
      </p:sp>
      <p:sp>
        <p:nvSpPr>
          <p:cNvPr id="14" name="Family line 2"/>
          <p:cNvSpPr/>
          <p:nvPr/>
        </p:nvSpPr>
        <p:spPr>
          <a:xfrm>
            <a:off x="4937760" y="84582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prstDash val="dash"/>
          </a:ln>
        </p:spPr>
      </p:sp>
      <p:sp>
        <p:nvSpPr>
          <p:cNvPr id="15" name="Relation 2"/>
          <p:cNvSpPr txBox="1"/>
          <p:nvPr/>
        </p:nvSpPr>
        <p:spPr>
          <a:xfrm>
            <a:off x="5047488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의 딸</a:t>
            </a:r>
            <a:endParaRPr lang="en-US" sz="1100" dirty="0"/>
          </a:p>
        </p:txBody>
      </p:sp>
      <p:sp>
        <p:nvSpPr>
          <p:cNvPr id="16" name="Couple circle 2"/>
          <p:cNvSpPr/>
          <p:nvPr/>
        </p:nvSpPr>
        <p:spPr>
          <a:xfrm>
            <a:off x="4251960" y="9144000"/>
            <a:ext cx="1371600" cy="13716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7" name="Couple name 2"/>
          <p:cNvSpPr txBox="1"/>
          <p:nvPr/>
        </p:nvSpPr>
        <p:spPr>
          <a:xfrm>
            <a:off x="4251960" y="9144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세화</a:t>
            </a:r>
            <a:endParaRPr lang="en-US" sz="2400" dirty="0"/>
          </a:p>
        </p:txBody>
      </p:sp>
      <p:sp>
        <p:nvSpPr>
          <p:cNvPr id="18" name="Couple link"/>
          <p:cNvSpPr/>
          <p:nvPr/>
        </p:nvSpPr>
        <p:spPr>
          <a:xfrm>
            <a:off x="2606040" y="9829800"/>
            <a:ext cx="16459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</a:ln>
        </p:spPr>
      </p:sp>
      <p:sp>
        <p:nvSpPr>
          <p:cNvPr id="19" name="Heart backdrop"/>
          <p:cNvSpPr/>
          <p:nvPr/>
        </p:nvSpPr>
        <p:spPr>
          <a:xfrm>
            <a:off x="3108960" y="9509760"/>
            <a:ext cx="640080" cy="640080"/>
          </a:xfrm>
          <a:prstGeom prst="ellipse">
            <a:avLst/>
          </a:prstGeom>
          <a:solidFill>
            <a:srgbClr val="0F172A"/>
          </a:solidFill>
          <a:ln w="19050">
            <a:solidFill>
              <a:schemeClr val="accent6"/>
            </a:solidFill>
            <a:prstDash val="solid"/>
          </a:ln>
        </p:spPr>
      </p:sp>
      <p:pic>
        <p:nvPicPr>
          <p:cNvPr id="20" name="Hear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9665208"/>
            <a:ext cx="329184" cy="329184"/>
          </a:xfrm>
          <a:prstGeom prst="rect">
            <a:avLst/>
          </a:prstGeom>
        </p:spPr>
      </p:pic>
      <p:sp>
        <p:nvSpPr>
          <p:cNvPr id="21" name="Family caption"/>
          <p:cNvSpPr txBox="1"/>
          <p:nvPr/>
        </p:nvSpPr>
        <p:spPr>
          <a:xfrm>
            <a:off x="548640" y="10881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두 가족이 한 가족이 되는 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31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chemeClr val="accent1"/>
                </a:solidFill>
              </a:rPr>
              <a:t>SPECIFICATION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본 결혼의 사양서</a:t>
            </a:r>
            <a:endParaRPr lang="en-US" sz="3000" dirty="0"/>
          </a:p>
        </p:txBody>
      </p:sp>
      <p:sp>
        <p:nvSpPr>
          <p:cNvPr id="4" name="Drawing number"/>
          <p:cNvSpPr txBox="1"/>
          <p:nvPr/>
        </p:nvSpPr>
        <p:spPr>
          <a:xfrm>
            <a:off x="548640" y="1874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chemeClr val="bg2"/>
                </a:solidFill>
              </a:rPr>
              <a:t>DWG. No. 20261025  ·  평생 공동 운항 프로젝트</a:t>
            </a:r>
            <a:endParaRPr lang="en-US" sz="1200" dirty="0"/>
          </a:p>
        </p:txBody>
      </p:sp>
      <p:sp>
        <p:nvSpPr>
          <p:cNvPr id="5" name="Spec card 1"/>
          <p:cNvSpPr/>
          <p:nvPr/>
        </p:nvSpPr>
        <p:spPr>
          <a:xfrm>
            <a:off x="548640" y="2514600"/>
            <a:ext cx="2697480" cy="2331720"/>
          </a:xfrm>
          <a:prstGeom prst="roundRect">
            <a:avLst>
              <a:gd name="adj" fmla="val 862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pec icon bg 1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7" name="Spec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274320" cy="274320"/>
          </a:xfrm>
          <a:prstGeom prst="rect">
            <a:avLst/>
          </a:prstGeom>
        </p:spPr>
      </p:pic>
      <p:sp>
        <p:nvSpPr>
          <p:cNvPr id="8" name="Spec label 1"/>
          <p:cNvSpPr txBox="1"/>
          <p:nvPr/>
        </p:nvSpPr>
        <p:spPr>
          <a:xfrm>
            <a:off x="1508760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탑승 인원</a:t>
            </a:r>
            <a:endParaRPr lang="en-US" sz="1400" dirty="0"/>
          </a:p>
        </p:txBody>
      </p:sp>
      <p:sp>
        <p:nvSpPr>
          <p:cNvPr id="9" name="Spec value 1"/>
          <p:cNvSpPr txBox="1"/>
          <p:nvPr/>
        </p:nvSpPr>
        <p:spPr>
          <a:xfrm>
            <a:off x="822960" y="3429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명</a:t>
            </a:r>
            <a:endParaRPr lang="en-US" sz="4000" dirty="0"/>
          </a:p>
        </p:txBody>
      </p:sp>
      <p:sp>
        <p:nvSpPr>
          <p:cNvPr id="10" name="Spec note 1"/>
          <p:cNvSpPr txBox="1"/>
          <p:nvPr/>
        </p:nvSpPr>
        <p:spPr>
          <a:xfrm>
            <a:off x="822960" y="4206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정원 초과 시 별도 협의</a:t>
            </a:r>
            <a:endParaRPr lang="en-US" sz="1100" dirty="0"/>
          </a:p>
        </p:txBody>
      </p:sp>
      <p:sp>
        <p:nvSpPr>
          <p:cNvPr id="11" name="Spec card 2"/>
          <p:cNvSpPr/>
          <p:nvPr/>
        </p:nvSpPr>
        <p:spPr>
          <a:xfrm>
            <a:off x="3611880" y="2514600"/>
            <a:ext cx="2697480" cy="2331720"/>
          </a:xfrm>
          <a:prstGeom prst="roundRect">
            <a:avLst>
              <a:gd name="adj" fmla="val 862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pec icon bg 2"/>
          <p:cNvSpPr/>
          <p:nvPr/>
        </p:nvSpPr>
        <p:spPr>
          <a:xfrm>
            <a:off x="3886200" y="278892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3" name="Spec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926080"/>
            <a:ext cx="274320" cy="274320"/>
          </a:xfrm>
          <a:prstGeom prst="rect">
            <a:avLst/>
          </a:prstGeom>
        </p:spPr>
      </p:pic>
      <p:sp>
        <p:nvSpPr>
          <p:cNvPr id="14" name="Spec label 2"/>
          <p:cNvSpPr txBox="1"/>
          <p:nvPr/>
        </p:nvSpPr>
        <p:spPr>
          <a:xfrm>
            <a:off x="4572000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보증 기간</a:t>
            </a:r>
            <a:endParaRPr lang="en-US" sz="1400" dirty="0"/>
          </a:p>
        </p:txBody>
      </p:sp>
      <p:sp>
        <p:nvSpPr>
          <p:cNvPr id="15" name="Spec value 2"/>
          <p:cNvSpPr txBox="1"/>
          <p:nvPr/>
        </p:nvSpPr>
        <p:spPr>
          <a:xfrm>
            <a:off x="3886200" y="3429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∞</a:t>
            </a:r>
            <a:pPr indent="0" marL="0">
              <a:buNone/>
            </a:pPr>
            <a:endParaRPr lang="en-US" sz="4000" dirty="0"/>
          </a:p>
        </p:txBody>
      </p:sp>
      <p:sp>
        <p:nvSpPr>
          <p:cNvPr id="16" name="Spec note 2"/>
          <p:cNvSpPr txBox="1"/>
          <p:nvPr/>
        </p:nvSpPr>
        <p:spPr>
          <a:xfrm>
            <a:off x="3886200" y="4206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A/S는 서로 무상 제공</a:t>
            </a:r>
            <a:endParaRPr lang="en-US" sz="1100" dirty="0"/>
          </a:p>
        </p:txBody>
      </p:sp>
      <p:sp>
        <p:nvSpPr>
          <p:cNvPr id="17" name="Spec card 3"/>
          <p:cNvSpPr/>
          <p:nvPr/>
        </p:nvSpPr>
        <p:spPr>
          <a:xfrm>
            <a:off x="548640" y="5166360"/>
            <a:ext cx="2697480" cy="2331720"/>
          </a:xfrm>
          <a:prstGeom prst="roundRect">
            <a:avLst>
              <a:gd name="adj" fmla="val 862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8" name="Spec icon bg 3"/>
          <p:cNvSpPr/>
          <p:nvPr/>
        </p:nvSpPr>
        <p:spPr>
          <a:xfrm>
            <a:off x="822960" y="544068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9" name="Spec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577840"/>
            <a:ext cx="274320" cy="274320"/>
          </a:xfrm>
          <a:prstGeom prst="rect">
            <a:avLst/>
          </a:prstGeom>
        </p:spPr>
      </p:pic>
      <p:sp>
        <p:nvSpPr>
          <p:cNvPr id="20" name="Spec label 3"/>
          <p:cNvSpPr txBox="1"/>
          <p:nvPr/>
        </p:nvSpPr>
        <p:spPr>
          <a:xfrm>
            <a:off x="1508760" y="5440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운항 시간</a:t>
            </a:r>
            <a:endParaRPr lang="en-US" sz="1400" dirty="0"/>
          </a:p>
        </p:txBody>
      </p:sp>
      <p:sp>
        <p:nvSpPr>
          <p:cNvPr id="21" name="Spec value 3"/>
          <p:cNvSpPr txBox="1"/>
          <p:nvPr/>
        </p:nvSpPr>
        <p:spPr>
          <a:xfrm>
            <a:off x="822960" y="6080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24/7</a:t>
            </a:r>
            <a:pPr indent="0" marL="0">
              <a:buNone/>
            </a:pPr>
            <a:endParaRPr lang="en-US" sz="4000" dirty="0"/>
          </a:p>
        </p:txBody>
      </p:sp>
      <p:sp>
        <p:nvSpPr>
          <p:cNvPr id="22" name="Spec note 3"/>
          <p:cNvSpPr txBox="1"/>
          <p:nvPr/>
        </p:nvSpPr>
        <p:spPr>
          <a:xfrm>
            <a:off x="822960" y="6858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연중무휴, 서로 대기 중</a:t>
            </a:r>
            <a:endParaRPr lang="en-US" sz="1100" dirty="0"/>
          </a:p>
        </p:txBody>
      </p:sp>
      <p:sp>
        <p:nvSpPr>
          <p:cNvPr id="23" name="Spec card 4"/>
          <p:cNvSpPr/>
          <p:nvPr/>
        </p:nvSpPr>
        <p:spPr>
          <a:xfrm>
            <a:off x="3611880" y="5166360"/>
            <a:ext cx="2697480" cy="2331720"/>
          </a:xfrm>
          <a:prstGeom prst="roundRect">
            <a:avLst>
              <a:gd name="adj" fmla="val 862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Spec icon bg 4"/>
          <p:cNvSpPr/>
          <p:nvPr/>
        </p:nvSpPr>
        <p:spPr>
          <a:xfrm>
            <a:off x="3886200" y="544068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25" name="Spec 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5577840"/>
            <a:ext cx="274320" cy="274320"/>
          </a:xfrm>
          <a:prstGeom prst="rect">
            <a:avLst/>
          </a:prstGeom>
        </p:spPr>
      </p:pic>
      <p:sp>
        <p:nvSpPr>
          <p:cNvPr id="26" name="Spec label 4"/>
          <p:cNvSpPr txBox="1"/>
          <p:nvPr/>
        </p:nvSpPr>
        <p:spPr>
          <a:xfrm>
            <a:off x="4572000" y="5440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설계 오차</a:t>
            </a:r>
            <a:endParaRPr lang="en-US" sz="1400" dirty="0"/>
          </a:p>
        </p:txBody>
      </p:sp>
      <p:sp>
        <p:nvSpPr>
          <p:cNvPr id="27" name="Spec value 4"/>
          <p:cNvSpPr txBox="1"/>
          <p:nvPr/>
        </p:nvSpPr>
        <p:spPr>
          <a:xfrm>
            <a:off x="3886200" y="6080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±0</a:t>
            </a:r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mm</a:t>
            </a:r>
            <a:endParaRPr lang="en-US" sz="4000" dirty="0"/>
          </a:p>
        </p:txBody>
      </p:sp>
      <p:sp>
        <p:nvSpPr>
          <p:cNvPr id="28" name="Spec note 4"/>
          <p:cNvSpPr txBox="1"/>
          <p:nvPr/>
        </p:nvSpPr>
        <p:spPr>
          <a:xfrm>
            <a:off x="3886200" y="6858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단, 화해 속도는 빠를수록 좋음</a:t>
            </a:r>
            <a:endParaRPr lang="en-US" sz="1100" dirty="0"/>
          </a:p>
        </p:txBody>
      </p:sp>
      <p:sp>
        <p:nvSpPr>
          <p:cNvPr id="29" name="Spec card 5"/>
          <p:cNvSpPr/>
          <p:nvPr/>
        </p:nvSpPr>
        <p:spPr>
          <a:xfrm>
            <a:off x="548640" y="7818120"/>
            <a:ext cx="2697480" cy="2331720"/>
          </a:xfrm>
          <a:prstGeom prst="roundRect">
            <a:avLst>
              <a:gd name="adj" fmla="val 862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Spec icon bg 5"/>
          <p:cNvSpPr/>
          <p:nvPr/>
        </p:nvSpPr>
        <p:spPr>
          <a:xfrm>
            <a:off x="822960" y="809244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31" name="Spec icon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8229600"/>
            <a:ext cx="274320" cy="274320"/>
          </a:xfrm>
          <a:prstGeom prst="rect">
            <a:avLst/>
          </a:prstGeom>
        </p:spPr>
      </p:pic>
      <p:sp>
        <p:nvSpPr>
          <p:cNvPr id="32" name="Spec label 5"/>
          <p:cNvSpPr txBox="1"/>
          <p:nvPr/>
        </p:nvSpPr>
        <p:spPr>
          <a:xfrm>
            <a:off x="1508760" y="8092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편집 분량</a:t>
            </a:r>
            <a:endParaRPr lang="en-US" sz="1400" dirty="0"/>
          </a:p>
        </p:txBody>
      </p:sp>
      <p:sp>
        <p:nvSpPr>
          <p:cNvPr id="33" name="Spec value 5"/>
          <p:cNvSpPr txBox="1"/>
          <p:nvPr/>
        </p:nvSpPr>
        <p:spPr>
          <a:xfrm>
            <a:off x="822960" y="8732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컷</a:t>
            </a:r>
            <a:endParaRPr lang="en-US" sz="4000" dirty="0"/>
          </a:p>
        </p:txBody>
      </p:sp>
      <p:sp>
        <p:nvSpPr>
          <p:cNvPr id="34" name="Spec note 5"/>
          <p:cNvSpPr txBox="1"/>
          <p:nvPr/>
        </p:nvSpPr>
        <p:spPr>
          <a:xfrm>
            <a:off x="822960" y="9509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무편집 다큐, NG도 소중히 보관</a:t>
            </a:r>
            <a:endParaRPr lang="en-US" sz="1100" dirty="0"/>
          </a:p>
        </p:txBody>
      </p:sp>
      <p:sp>
        <p:nvSpPr>
          <p:cNvPr id="35" name="Spec card 6"/>
          <p:cNvSpPr/>
          <p:nvPr/>
        </p:nvSpPr>
        <p:spPr>
          <a:xfrm>
            <a:off x="3611880" y="7818120"/>
            <a:ext cx="2697480" cy="2331720"/>
          </a:xfrm>
          <a:prstGeom prst="roundRect">
            <a:avLst>
              <a:gd name="adj" fmla="val 862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6" name="Spec icon bg 6"/>
          <p:cNvSpPr/>
          <p:nvPr/>
        </p:nvSpPr>
        <p:spPr>
          <a:xfrm>
            <a:off x="3886200" y="809244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37" name="Spec icon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8229600"/>
            <a:ext cx="274320" cy="274320"/>
          </a:xfrm>
          <a:prstGeom prst="rect">
            <a:avLst/>
          </a:prstGeom>
        </p:spPr>
      </p:pic>
      <p:sp>
        <p:nvSpPr>
          <p:cNvPr id="38" name="Spec label 6"/>
          <p:cNvSpPr txBox="1"/>
          <p:nvPr/>
        </p:nvSpPr>
        <p:spPr>
          <a:xfrm>
            <a:off x="4572000" y="8092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공동 주소</a:t>
            </a:r>
            <a:endParaRPr lang="en-US" sz="1400" dirty="0"/>
          </a:p>
        </p:txBody>
      </p:sp>
      <p:sp>
        <p:nvSpPr>
          <p:cNvPr id="39" name="Spec value 6"/>
          <p:cNvSpPr txBox="1"/>
          <p:nvPr/>
        </p:nvSpPr>
        <p:spPr>
          <a:xfrm>
            <a:off x="3886200" y="8732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곳</a:t>
            </a:r>
            <a:endParaRPr lang="en-US" sz="4000" dirty="0"/>
          </a:p>
        </p:txBody>
      </p:sp>
      <p:sp>
        <p:nvSpPr>
          <p:cNvPr id="40" name="Spec note 6"/>
          <p:cNvSpPr txBox="1"/>
          <p:nvPr/>
        </p:nvSpPr>
        <p:spPr>
          <a:xfrm>
            <a:off x="3886200" y="9509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이제 같은 주소를 씁니다</a:t>
            </a:r>
            <a:endParaRPr lang="en-US" sz="1100" dirty="0"/>
          </a:p>
        </p:txBody>
      </p:sp>
      <p:sp>
        <p:nvSpPr>
          <p:cNvPr id="41" name="Approval stamp"/>
          <p:cNvSpPr/>
          <p:nvPr/>
        </p:nvSpPr>
        <p:spPr>
          <a:xfrm rot="-720000">
            <a:off x="5074920" y="10424160"/>
            <a:ext cx="1143000" cy="1143000"/>
          </a:xfrm>
          <a:prstGeom prst="ellipse">
            <a:avLst/>
          </a:prstGeom>
          <a:solidFill>
            <a:srgbClr val="FCA5A5">
              <a:alpha val="8000"/>
            </a:srgbClr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42" name="Approval stamp text"/>
          <p:cNvSpPr txBox="1"/>
          <p:nvPr/>
        </p:nvSpPr>
        <p:spPr>
          <a:xfrm rot="-720000">
            <a:off x="5074920" y="104241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APPROVED</a:t>
            </a:r>
            <a:endParaRPr lang="en-US" sz="9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승인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2026.10.25</a:t>
            </a:r>
            <a:endParaRPr lang="en-US" sz="900" dirty="0"/>
          </a:p>
        </p:txBody>
      </p:sp>
      <p:sp>
        <p:nvSpPr>
          <p:cNvPr id="43" name="Inspection note"/>
          <p:cNvSpPr txBox="1"/>
          <p:nvPr/>
        </p:nvSpPr>
        <p:spPr>
          <a:xfrm>
            <a:off x="548640" y="105613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chemeClr val="bg1"/>
                </a:solidFill>
              </a:rPr>
              <a:t>검수일  2026. 10. 25. 일요일 12:30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검수에는 하객 여러분의 박수가 꼭 필요합니다.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31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chemeClr val="accent1"/>
                </a:solidFill>
              </a:rPr>
              <a:t>OUR JOURNEY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하늘에서 바다까지</a:t>
            </a:r>
            <a:endParaRPr lang="en-US" sz="3000" dirty="0"/>
          </a:p>
        </p:txBody>
      </p:sp>
      <p:sp>
        <p:nvSpPr>
          <p:cNvPr id="4" name="Timeline"/>
          <p:cNvSpPr/>
          <p:nvPr/>
        </p:nvSpPr>
        <p:spPr>
          <a:xfrm>
            <a:off x="1691640" y="2743200"/>
            <a:ext cx="0" cy="6995160"/>
          </a:xfrm>
          <a:prstGeom prst="line">
            <a:avLst/>
          </a:prstGeom>
          <a:noFill/>
          <a:ln w="15875">
            <a:solidFill>
              <a:schemeClr val="bg2"/>
            </a:solidFill>
            <a:prstDash val="dash"/>
          </a:ln>
        </p:spPr>
      </p:sp>
      <p:sp>
        <p:nvSpPr>
          <p:cNvPr id="5" name="Altitude 1"/>
          <p:cNvSpPr txBox="1"/>
          <p:nvPr/>
        </p:nvSpPr>
        <p:spPr>
          <a:xfrm>
            <a:off x="274320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고도</a:t>
            </a:r>
            <a:endParaRPr lang="en-US" sz="1000" dirty="0"/>
          </a:p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10,000 m</a:t>
            </a:r>
            <a:endParaRPr lang="en-US" sz="1000" dirty="0"/>
          </a:p>
        </p:txBody>
      </p:sp>
      <p:sp>
        <p:nvSpPr>
          <p:cNvPr id="6" name="Node 1"/>
          <p:cNvSpPr/>
          <p:nvPr/>
        </p:nvSpPr>
        <p:spPr>
          <a:xfrm>
            <a:off x="1325880" y="2377440"/>
            <a:ext cx="731520" cy="73152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7" name="Nod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560320"/>
            <a:ext cx="365760" cy="365760"/>
          </a:xfrm>
          <a:prstGeom prst="rect">
            <a:avLst/>
          </a:prstGeom>
        </p:spPr>
      </p:pic>
      <p:sp>
        <p:nvSpPr>
          <p:cNvPr id="8" name="Scene card 1"/>
          <p:cNvSpPr/>
          <p:nvPr/>
        </p:nvSpPr>
        <p:spPr>
          <a:xfrm>
            <a:off x="2286000" y="2148840"/>
            <a:ext cx="4023360" cy="1920240"/>
          </a:xfrm>
          <a:prstGeom prst="roundRect">
            <a:avLst>
              <a:gd name="adj" fmla="val 1047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Scene label 1"/>
          <p:cNvSpPr txBox="1"/>
          <p:nvPr/>
        </p:nvSpPr>
        <p:spPr>
          <a:xfrm>
            <a:off x="2560320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</a:rPr>
              <a:t>SCENE 01 · THE SKY</a:t>
            </a:r>
            <a:endParaRPr lang="en-US" sz="1000" dirty="0"/>
          </a:p>
        </p:txBody>
      </p:sp>
      <p:sp>
        <p:nvSpPr>
          <p:cNvPr id="10" name="Scene title 1"/>
          <p:cNvSpPr txBox="1"/>
          <p:nvPr/>
        </p:nvSpPr>
        <p:spPr>
          <a:xfrm>
            <a:off x="2560320" y="26700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샌프란시스코의 하늘 아래</a:t>
            </a:r>
            <a:endParaRPr lang="en-US" sz="1800" dirty="0"/>
          </a:p>
        </p:txBody>
      </p:sp>
      <p:sp>
        <p:nvSpPr>
          <p:cNvPr id="11" name="Scene desc 1"/>
          <p:cNvSpPr txBox="1"/>
          <p:nvPr/>
        </p:nvSpPr>
        <p:spPr>
          <a:xfrm>
            <a:off x="2560320" y="3154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드넓은 하늘 아래에서 두 사람의 이야기가 시작되었습니다.</a:t>
            </a:r>
            <a:endParaRPr lang="en-US" sz="1300" dirty="0"/>
          </a:p>
        </p:txBody>
      </p:sp>
      <p:sp>
        <p:nvSpPr>
          <p:cNvPr id="12" name="Altitude 2"/>
          <p:cNvSpPr txBox="1"/>
          <p:nvPr/>
        </p:nvSpPr>
        <p:spPr>
          <a:xfrm>
            <a:off x="274320" y="4709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태평양</a:t>
            </a:r>
            <a:endParaRPr lang="en-US" sz="1000" dirty="0"/>
          </a:p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9,062 km</a:t>
            </a:r>
            <a:endParaRPr lang="en-US" sz="1000" dirty="0"/>
          </a:p>
        </p:txBody>
      </p:sp>
      <p:sp>
        <p:nvSpPr>
          <p:cNvPr id="13" name="Node 2"/>
          <p:cNvSpPr/>
          <p:nvPr/>
        </p:nvSpPr>
        <p:spPr>
          <a:xfrm>
            <a:off x="1325880" y="4709160"/>
            <a:ext cx="731520" cy="73152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4" name="Node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4892040"/>
            <a:ext cx="365760" cy="365760"/>
          </a:xfrm>
          <a:prstGeom prst="rect">
            <a:avLst/>
          </a:prstGeom>
        </p:spPr>
      </p:pic>
      <p:sp>
        <p:nvSpPr>
          <p:cNvPr id="15" name="Scene card 2"/>
          <p:cNvSpPr/>
          <p:nvPr/>
        </p:nvSpPr>
        <p:spPr>
          <a:xfrm>
            <a:off x="2286000" y="4480560"/>
            <a:ext cx="4023360" cy="1920240"/>
          </a:xfrm>
          <a:prstGeom prst="roundRect">
            <a:avLst>
              <a:gd name="adj" fmla="val 1047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Scene label 2"/>
          <p:cNvSpPr txBox="1"/>
          <p:nvPr/>
        </p:nvSpPr>
        <p:spPr>
          <a:xfrm>
            <a:off x="2560320" y="4690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</a:rPr>
              <a:t>SCENE 02 · THE PACIFIC</a:t>
            </a:r>
            <a:endParaRPr lang="en-US" sz="1000" dirty="0"/>
          </a:p>
        </p:txBody>
      </p:sp>
      <p:sp>
        <p:nvSpPr>
          <p:cNvPr id="17" name="Scene title 2"/>
          <p:cNvSpPr txBox="1"/>
          <p:nvPr/>
        </p:nvSpPr>
        <p:spPr>
          <a:xfrm>
            <a:off x="2560320" y="50017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태평양을 건너</a:t>
            </a:r>
            <a:endParaRPr lang="en-US" sz="1800" dirty="0"/>
          </a:p>
        </p:txBody>
      </p:sp>
      <p:sp>
        <p:nvSpPr>
          <p:cNvPr id="18" name="Scene desc 2"/>
          <p:cNvSpPr txBox="1"/>
          <p:nvPr/>
        </p:nvSpPr>
        <p:spPr>
          <a:xfrm>
            <a:off x="2560320" y="54864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오차 없는 설계와 꾸밈없는 기록이 만나 한 편의 이야기가 됩니다.</a:t>
            </a:r>
            <a:endParaRPr lang="en-US" sz="1300" dirty="0"/>
          </a:p>
        </p:txBody>
      </p:sp>
      <p:sp>
        <p:nvSpPr>
          <p:cNvPr id="19" name="Altitude 3"/>
          <p:cNvSpPr txBox="1"/>
          <p:nvPr/>
        </p:nvSpPr>
        <p:spPr>
          <a:xfrm>
            <a:off x="274320" y="7040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수심</a:t>
            </a:r>
            <a:endParaRPr lang="en-US" sz="1000" dirty="0"/>
          </a:p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−5 m</a:t>
            </a:r>
            <a:endParaRPr lang="en-US" sz="1000" dirty="0"/>
          </a:p>
        </p:txBody>
      </p:sp>
      <p:sp>
        <p:nvSpPr>
          <p:cNvPr id="20" name="Node 3"/>
          <p:cNvSpPr/>
          <p:nvPr/>
        </p:nvSpPr>
        <p:spPr>
          <a:xfrm>
            <a:off x="1325880" y="7040880"/>
            <a:ext cx="731520" cy="7315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21" name="Node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7223760"/>
            <a:ext cx="365760" cy="365760"/>
          </a:xfrm>
          <a:prstGeom prst="rect">
            <a:avLst/>
          </a:prstGeom>
        </p:spPr>
      </p:pic>
      <p:sp>
        <p:nvSpPr>
          <p:cNvPr id="22" name="Scene card 3"/>
          <p:cNvSpPr/>
          <p:nvPr/>
        </p:nvSpPr>
        <p:spPr>
          <a:xfrm>
            <a:off x="2286000" y="6812280"/>
            <a:ext cx="4023360" cy="1920240"/>
          </a:xfrm>
          <a:prstGeom prst="roundRect">
            <a:avLst>
              <a:gd name="adj" fmla="val 1047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cene label 3"/>
          <p:cNvSpPr txBox="1"/>
          <p:nvPr/>
        </p:nvSpPr>
        <p:spPr>
          <a:xfrm>
            <a:off x="2560320" y="7022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SCENE 03 · THE SEA</a:t>
            </a:r>
            <a:endParaRPr lang="en-US" sz="1000" dirty="0"/>
          </a:p>
        </p:txBody>
      </p:sp>
      <p:sp>
        <p:nvSpPr>
          <p:cNvPr id="24" name="Scene title 3"/>
          <p:cNvSpPr txBox="1"/>
          <p:nvPr/>
        </p:nvSpPr>
        <p:spPr>
          <a:xfrm>
            <a:off x="2560320" y="73334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부산의 맑은 바다로</a:t>
            </a:r>
            <a:endParaRPr lang="en-US" sz="1800" dirty="0"/>
          </a:p>
        </p:txBody>
      </p:sp>
      <p:sp>
        <p:nvSpPr>
          <p:cNvPr id="25" name="Scene desc 3"/>
          <p:cNvSpPr txBox="1"/>
          <p:nvPr/>
        </p:nvSpPr>
        <p:spPr>
          <a:xfrm>
            <a:off x="2560320" y="7818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스노클링처럼 청량하게, 손을 꼭 잡고 함께 뛰어듭니다.</a:t>
            </a:r>
            <a:endParaRPr lang="en-US" sz="1300" dirty="0"/>
          </a:p>
        </p:txBody>
      </p:sp>
      <p:sp>
        <p:nvSpPr>
          <p:cNvPr id="26" name="Altitude 4"/>
          <p:cNvSpPr txBox="1"/>
          <p:nvPr/>
        </p:nvSpPr>
        <p:spPr>
          <a:xfrm>
            <a:off x="274320" y="9372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D-DAY</a:t>
            </a:r>
            <a:endParaRPr lang="en-US" sz="1000" dirty="0"/>
          </a:p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10.25</a:t>
            </a:r>
            <a:endParaRPr lang="en-US" sz="1000" dirty="0"/>
          </a:p>
        </p:txBody>
      </p:sp>
      <p:sp>
        <p:nvSpPr>
          <p:cNvPr id="27" name="Node 4"/>
          <p:cNvSpPr/>
          <p:nvPr/>
        </p:nvSpPr>
        <p:spPr>
          <a:xfrm>
            <a:off x="1325880" y="9372600"/>
            <a:ext cx="731520" cy="731520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28" name="Node 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9555480"/>
            <a:ext cx="365760" cy="365760"/>
          </a:xfrm>
          <a:prstGeom prst="rect">
            <a:avLst/>
          </a:prstGeom>
        </p:spPr>
      </p:pic>
      <p:sp>
        <p:nvSpPr>
          <p:cNvPr id="29" name="Scene card 4"/>
          <p:cNvSpPr/>
          <p:nvPr/>
        </p:nvSpPr>
        <p:spPr>
          <a:xfrm>
            <a:off x="2286000" y="9144000"/>
            <a:ext cx="4023360" cy="1920240"/>
          </a:xfrm>
          <a:prstGeom prst="roundRect">
            <a:avLst>
              <a:gd name="adj" fmla="val 1047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Scene label 4"/>
          <p:cNvSpPr txBox="1"/>
          <p:nvPr/>
        </p:nvSpPr>
        <p:spPr>
          <a:xfrm>
            <a:off x="2560320" y="9354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</a:rPr>
              <a:t>SCENE 04 · TO BE CONTINUED</a:t>
            </a:r>
            <a:endParaRPr lang="en-US" sz="1000" dirty="0"/>
          </a:p>
        </p:txBody>
      </p:sp>
      <p:sp>
        <p:nvSpPr>
          <p:cNvPr id="31" name="Scene title 4"/>
          <p:cNvSpPr txBox="1"/>
          <p:nvPr/>
        </p:nvSpPr>
        <p:spPr>
          <a:xfrm>
            <a:off x="2560320" y="96652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그리고, 결혼식</a:t>
            </a:r>
            <a:endParaRPr lang="en-US" sz="1800" dirty="0"/>
          </a:p>
        </p:txBody>
      </p:sp>
      <p:sp>
        <p:nvSpPr>
          <p:cNvPr id="32" name="Scene desc 4"/>
          <p:cNvSpPr txBox="1"/>
          <p:nvPr/>
        </p:nvSpPr>
        <p:spPr>
          <a:xfrm>
            <a:off x="2560320" y="10149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다음 장면은 여러분과 함께 찍겠습니다.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31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chemeClr val="accent1"/>
                </a:solidFill>
              </a:rPr>
              <a:t>THE DATE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예식 일시</a:t>
            </a:r>
            <a:endParaRPr lang="en-US" sz="3000" dirty="0"/>
          </a:p>
        </p:txBody>
      </p:sp>
      <p:sp>
        <p:nvSpPr>
          <p:cNvPr id="4" name="Big date"/>
          <p:cNvSpPr txBox="1"/>
          <p:nvPr/>
        </p:nvSpPr>
        <p:spPr>
          <a:xfrm>
            <a:off x="548640" y="201168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10.25</a:t>
            </a:r>
            <a:endParaRPr lang="en-US" sz="7200" dirty="0"/>
          </a:p>
        </p:txBody>
      </p:sp>
      <p:sp>
        <p:nvSpPr>
          <p:cNvPr id="5" name="Date full"/>
          <p:cNvSpPr txBox="1"/>
          <p:nvPr/>
        </p:nvSpPr>
        <p:spPr>
          <a:xfrm>
            <a:off x="548640" y="3154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2026년 10월 25일 일요일 낮 12시 30분</a:t>
            </a:r>
            <a:endParaRPr lang="en-US" sz="1600" dirty="0"/>
          </a:p>
        </p:txBody>
      </p:sp>
      <p:sp>
        <p:nvSpPr>
          <p:cNvPr id="6" name="Calendar card"/>
          <p:cNvSpPr/>
          <p:nvPr/>
        </p:nvSpPr>
        <p:spPr>
          <a:xfrm>
            <a:off x="548640" y="3977640"/>
            <a:ext cx="5760720" cy="4983480"/>
          </a:xfrm>
          <a:prstGeom prst="roundRect">
            <a:avLst>
              <a:gd name="adj" fmla="val 403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Calendar month"/>
          <p:cNvSpPr txBox="1"/>
          <p:nvPr/>
        </p:nvSpPr>
        <p:spPr>
          <a:xfrm>
            <a:off x="548640" y="4251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chemeClr val="bg1"/>
                </a:solidFill>
              </a:rPr>
              <a:t>2026  OCTOBER</a:t>
            </a:r>
            <a:endParaRPr lang="en-US" sz="1600" dirty="0"/>
          </a:p>
        </p:txBody>
      </p:sp>
      <p:sp>
        <p:nvSpPr>
          <p:cNvPr id="8" name="Weekday SUN"/>
          <p:cNvSpPr txBox="1"/>
          <p:nvPr/>
        </p:nvSpPr>
        <p:spPr>
          <a:xfrm>
            <a:off x="822960" y="4846320"/>
            <a:ext cx="744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SUN</a:t>
            </a:r>
            <a:endParaRPr lang="en-US" sz="1000" dirty="0"/>
          </a:p>
        </p:txBody>
      </p:sp>
      <p:sp>
        <p:nvSpPr>
          <p:cNvPr id="9" name="Weekday MON"/>
          <p:cNvSpPr txBox="1"/>
          <p:nvPr/>
        </p:nvSpPr>
        <p:spPr>
          <a:xfrm>
            <a:off x="1567543" y="4846320"/>
            <a:ext cx="744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MON</a:t>
            </a:r>
            <a:endParaRPr lang="en-US" sz="1000" dirty="0"/>
          </a:p>
        </p:txBody>
      </p:sp>
      <p:sp>
        <p:nvSpPr>
          <p:cNvPr id="10" name="Weekday TUE"/>
          <p:cNvSpPr txBox="1"/>
          <p:nvPr/>
        </p:nvSpPr>
        <p:spPr>
          <a:xfrm>
            <a:off x="2312126" y="4846320"/>
            <a:ext cx="744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TUE</a:t>
            </a:r>
            <a:endParaRPr lang="en-US" sz="1000" dirty="0"/>
          </a:p>
        </p:txBody>
      </p:sp>
      <p:sp>
        <p:nvSpPr>
          <p:cNvPr id="11" name="Weekday WED"/>
          <p:cNvSpPr txBox="1"/>
          <p:nvPr/>
        </p:nvSpPr>
        <p:spPr>
          <a:xfrm>
            <a:off x="3056709" y="4846320"/>
            <a:ext cx="744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WED</a:t>
            </a:r>
            <a:endParaRPr lang="en-US" sz="1000" dirty="0"/>
          </a:p>
        </p:txBody>
      </p:sp>
      <p:sp>
        <p:nvSpPr>
          <p:cNvPr id="12" name="Weekday THU"/>
          <p:cNvSpPr txBox="1"/>
          <p:nvPr/>
        </p:nvSpPr>
        <p:spPr>
          <a:xfrm>
            <a:off x="3801291" y="4846320"/>
            <a:ext cx="744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THU</a:t>
            </a:r>
            <a:endParaRPr lang="en-US" sz="1000" dirty="0"/>
          </a:p>
        </p:txBody>
      </p:sp>
      <p:sp>
        <p:nvSpPr>
          <p:cNvPr id="13" name="Weekday FRI"/>
          <p:cNvSpPr txBox="1"/>
          <p:nvPr/>
        </p:nvSpPr>
        <p:spPr>
          <a:xfrm>
            <a:off x="4545874" y="4846320"/>
            <a:ext cx="744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FRI</a:t>
            </a:r>
            <a:endParaRPr lang="en-US" sz="1000" dirty="0"/>
          </a:p>
        </p:txBody>
      </p:sp>
      <p:sp>
        <p:nvSpPr>
          <p:cNvPr id="14" name="Weekday SAT"/>
          <p:cNvSpPr txBox="1"/>
          <p:nvPr/>
        </p:nvSpPr>
        <p:spPr>
          <a:xfrm>
            <a:off x="5290457" y="4846320"/>
            <a:ext cx="744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SAT</a:t>
            </a:r>
            <a:endParaRPr lang="en-US" sz="1000" dirty="0"/>
          </a:p>
        </p:txBody>
      </p:sp>
      <p:sp>
        <p:nvSpPr>
          <p:cNvPr id="15" name="Day 1"/>
          <p:cNvSpPr txBox="1"/>
          <p:nvPr/>
        </p:nvSpPr>
        <p:spPr>
          <a:xfrm>
            <a:off x="3801291" y="5303520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Day 2"/>
          <p:cNvSpPr txBox="1"/>
          <p:nvPr/>
        </p:nvSpPr>
        <p:spPr>
          <a:xfrm>
            <a:off x="4545874" y="5303520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Day 3"/>
          <p:cNvSpPr txBox="1"/>
          <p:nvPr/>
        </p:nvSpPr>
        <p:spPr>
          <a:xfrm>
            <a:off x="5290457" y="5303520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Day 4"/>
          <p:cNvSpPr txBox="1"/>
          <p:nvPr/>
        </p:nvSpPr>
        <p:spPr>
          <a:xfrm>
            <a:off x="822960" y="5961888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Day 5"/>
          <p:cNvSpPr txBox="1"/>
          <p:nvPr/>
        </p:nvSpPr>
        <p:spPr>
          <a:xfrm>
            <a:off x="1567543" y="5961888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Day 6"/>
          <p:cNvSpPr txBox="1"/>
          <p:nvPr/>
        </p:nvSpPr>
        <p:spPr>
          <a:xfrm>
            <a:off x="2312126" y="5961888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Day 7"/>
          <p:cNvSpPr txBox="1"/>
          <p:nvPr/>
        </p:nvSpPr>
        <p:spPr>
          <a:xfrm>
            <a:off x="3056709" y="5961888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2" name="Day 8"/>
          <p:cNvSpPr txBox="1"/>
          <p:nvPr/>
        </p:nvSpPr>
        <p:spPr>
          <a:xfrm>
            <a:off x="3801291" y="5961888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3" name="Day 9"/>
          <p:cNvSpPr txBox="1"/>
          <p:nvPr/>
        </p:nvSpPr>
        <p:spPr>
          <a:xfrm>
            <a:off x="4545874" y="5961888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24" name="Day 10"/>
          <p:cNvSpPr txBox="1"/>
          <p:nvPr/>
        </p:nvSpPr>
        <p:spPr>
          <a:xfrm>
            <a:off x="5290457" y="5961888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Day 11"/>
          <p:cNvSpPr txBox="1"/>
          <p:nvPr/>
        </p:nvSpPr>
        <p:spPr>
          <a:xfrm>
            <a:off x="822960" y="6620256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11</a:t>
            </a:r>
            <a:endParaRPr lang="en-US" sz="1400" dirty="0"/>
          </a:p>
        </p:txBody>
      </p:sp>
      <p:sp>
        <p:nvSpPr>
          <p:cNvPr id="26" name="Day 12"/>
          <p:cNvSpPr txBox="1"/>
          <p:nvPr/>
        </p:nvSpPr>
        <p:spPr>
          <a:xfrm>
            <a:off x="1567543" y="6620256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12</a:t>
            </a:r>
            <a:endParaRPr lang="en-US" sz="1400" dirty="0"/>
          </a:p>
        </p:txBody>
      </p:sp>
      <p:sp>
        <p:nvSpPr>
          <p:cNvPr id="27" name="Day 13"/>
          <p:cNvSpPr txBox="1"/>
          <p:nvPr/>
        </p:nvSpPr>
        <p:spPr>
          <a:xfrm>
            <a:off x="2312126" y="6620256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13</a:t>
            </a:r>
            <a:endParaRPr lang="en-US" sz="1400" dirty="0"/>
          </a:p>
        </p:txBody>
      </p:sp>
      <p:sp>
        <p:nvSpPr>
          <p:cNvPr id="28" name="Day 14"/>
          <p:cNvSpPr txBox="1"/>
          <p:nvPr/>
        </p:nvSpPr>
        <p:spPr>
          <a:xfrm>
            <a:off x="3056709" y="6620256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14</a:t>
            </a:r>
            <a:endParaRPr lang="en-US" sz="1400" dirty="0"/>
          </a:p>
        </p:txBody>
      </p:sp>
      <p:sp>
        <p:nvSpPr>
          <p:cNvPr id="29" name="Day 15"/>
          <p:cNvSpPr txBox="1"/>
          <p:nvPr/>
        </p:nvSpPr>
        <p:spPr>
          <a:xfrm>
            <a:off x="3801291" y="6620256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15</a:t>
            </a:r>
            <a:endParaRPr lang="en-US" sz="1400" dirty="0"/>
          </a:p>
        </p:txBody>
      </p:sp>
      <p:sp>
        <p:nvSpPr>
          <p:cNvPr id="30" name="Day 16"/>
          <p:cNvSpPr txBox="1"/>
          <p:nvPr/>
        </p:nvSpPr>
        <p:spPr>
          <a:xfrm>
            <a:off x="4545874" y="6620256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16</a:t>
            </a:r>
            <a:endParaRPr lang="en-US" sz="1400" dirty="0"/>
          </a:p>
        </p:txBody>
      </p:sp>
      <p:sp>
        <p:nvSpPr>
          <p:cNvPr id="31" name="Day 17"/>
          <p:cNvSpPr txBox="1"/>
          <p:nvPr/>
        </p:nvSpPr>
        <p:spPr>
          <a:xfrm>
            <a:off x="5290457" y="6620256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17</a:t>
            </a:r>
            <a:endParaRPr lang="en-US" sz="1400" dirty="0"/>
          </a:p>
        </p:txBody>
      </p:sp>
      <p:sp>
        <p:nvSpPr>
          <p:cNvPr id="32" name="Day 18"/>
          <p:cNvSpPr txBox="1"/>
          <p:nvPr/>
        </p:nvSpPr>
        <p:spPr>
          <a:xfrm>
            <a:off x="822960" y="7278624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18</a:t>
            </a:r>
            <a:endParaRPr lang="en-US" sz="1400" dirty="0"/>
          </a:p>
        </p:txBody>
      </p:sp>
      <p:sp>
        <p:nvSpPr>
          <p:cNvPr id="33" name="Day 19"/>
          <p:cNvSpPr txBox="1"/>
          <p:nvPr/>
        </p:nvSpPr>
        <p:spPr>
          <a:xfrm>
            <a:off x="1567543" y="7278624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19</a:t>
            </a:r>
            <a:endParaRPr lang="en-US" sz="1400" dirty="0"/>
          </a:p>
        </p:txBody>
      </p:sp>
      <p:sp>
        <p:nvSpPr>
          <p:cNvPr id="34" name="Day 20"/>
          <p:cNvSpPr txBox="1"/>
          <p:nvPr/>
        </p:nvSpPr>
        <p:spPr>
          <a:xfrm>
            <a:off x="2312126" y="7278624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20</a:t>
            </a:r>
            <a:endParaRPr lang="en-US" sz="1400" dirty="0"/>
          </a:p>
        </p:txBody>
      </p:sp>
      <p:sp>
        <p:nvSpPr>
          <p:cNvPr id="35" name="Day 21"/>
          <p:cNvSpPr txBox="1"/>
          <p:nvPr/>
        </p:nvSpPr>
        <p:spPr>
          <a:xfrm>
            <a:off x="3056709" y="7278624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21</a:t>
            </a:r>
            <a:endParaRPr lang="en-US" sz="1400" dirty="0"/>
          </a:p>
        </p:txBody>
      </p:sp>
      <p:sp>
        <p:nvSpPr>
          <p:cNvPr id="36" name="Day 22"/>
          <p:cNvSpPr txBox="1"/>
          <p:nvPr/>
        </p:nvSpPr>
        <p:spPr>
          <a:xfrm>
            <a:off x="3801291" y="7278624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22</a:t>
            </a:r>
            <a:endParaRPr lang="en-US" sz="1400" dirty="0"/>
          </a:p>
        </p:txBody>
      </p:sp>
      <p:sp>
        <p:nvSpPr>
          <p:cNvPr id="37" name="Day 23"/>
          <p:cNvSpPr txBox="1"/>
          <p:nvPr/>
        </p:nvSpPr>
        <p:spPr>
          <a:xfrm>
            <a:off x="4545874" y="7278624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23</a:t>
            </a:r>
            <a:endParaRPr lang="en-US" sz="1400" dirty="0"/>
          </a:p>
        </p:txBody>
      </p:sp>
      <p:sp>
        <p:nvSpPr>
          <p:cNvPr id="38" name="Day 24"/>
          <p:cNvSpPr txBox="1"/>
          <p:nvPr/>
        </p:nvSpPr>
        <p:spPr>
          <a:xfrm>
            <a:off x="5290457" y="7278624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24</a:t>
            </a:r>
            <a:endParaRPr lang="en-US" sz="1400" dirty="0"/>
          </a:p>
        </p:txBody>
      </p:sp>
      <p:sp>
        <p:nvSpPr>
          <p:cNvPr id="39" name="Wedding day"/>
          <p:cNvSpPr/>
          <p:nvPr/>
        </p:nvSpPr>
        <p:spPr>
          <a:xfrm>
            <a:off x="920931" y="794613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Day 25"/>
          <p:cNvSpPr txBox="1"/>
          <p:nvPr/>
        </p:nvSpPr>
        <p:spPr>
          <a:xfrm>
            <a:off x="822960" y="7936992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25</a:t>
            </a:r>
            <a:endParaRPr lang="en-US" sz="1400" dirty="0"/>
          </a:p>
        </p:txBody>
      </p:sp>
      <p:sp>
        <p:nvSpPr>
          <p:cNvPr id="41" name="Day 26"/>
          <p:cNvSpPr txBox="1"/>
          <p:nvPr/>
        </p:nvSpPr>
        <p:spPr>
          <a:xfrm>
            <a:off x="1567543" y="7936992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26</a:t>
            </a:r>
            <a:endParaRPr lang="en-US" sz="1400" dirty="0"/>
          </a:p>
        </p:txBody>
      </p:sp>
      <p:sp>
        <p:nvSpPr>
          <p:cNvPr id="42" name="Day 27"/>
          <p:cNvSpPr txBox="1"/>
          <p:nvPr/>
        </p:nvSpPr>
        <p:spPr>
          <a:xfrm>
            <a:off x="2312126" y="7936992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27</a:t>
            </a:r>
            <a:endParaRPr lang="en-US" sz="1400" dirty="0"/>
          </a:p>
        </p:txBody>
      </p:sp>
      <p:sp>
        <p:nvSpPr>
          <p:cNvPr id="43" name="Day 28"/>
          <p:cNvSpPr txBox="1"/>
          <p:nvPr/>
        </p:nvSpPr>
        <p:spPr>
          <a:xfrm>
            <a:off x="3056709" y="7936992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28</a:t>
            </a:r>
            <a:endParaRPr lang="en-US" sz="1400" dirty="0"/>
          </a:p>
        </p:txBody>
      </p:sp>
      <p:sp>
        <p:nvSpPr>
          <p:cNvPr id="44" name="Day 29"/>
          <p:cNvSpPr txBox="1"/>
          <p:nvPr/>
        </p:nvSpPr>
        <p:spPr>
          <a:xfrm>
            <a:off x="3801291" y="7936992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29</a:t>
            </a:r>
            <a:endParaRPr lang="en-US" sz="1400" dirty="0"/>
          </a:p>
        </p:txBody>
      </p:sp>
      <p:sp>
        <p:nvSpPr>
          <p:cNvPr id="45" name="Day 30"/>
          <p:cNvSpPr txBox="1"/>
          <p:nvPr/>
        </p:nvSpPr>
        <p:spPr>
          <a:xfrm>
            <a:off x="4545874" y="7936992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30</a:t>
            </a:r>
            <a:endParaRPr lang="en-US" sz="1400" dirty="0"/>
          </a:p>
        </p:txBody>
      </p:sp>
      <p:sp>
        <p:nvSpPr>
          <p:cNvPr id="46" name="Day 31"/>
          <p:cNvSpPr txBox="1"/>
          <p:nvPr/>
        </p:nvSpPr>
        <p:spPr>
          <a:xfrm>
            <a:off x="5290457" y="7936992"/>
            <a:ext cx="7445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31</a:t>
            </a:r>
            <a:endParaRPr lang="en-US" sz="1400" dirty="0"/>
          </a:p>
        </p:txBody>
      </p:sp>
      <p:sp>
        <p:nvSpPr>
          <p:cNvPr id="47" name="Gauge card"/>
          <p:cNvSpPr/>
          <p:nvPr/>
        </p:nvSpPr>
        <p:spPr>
          <a:xfrm>
            <a:off x="548640" y="9372600"/>
            <a:ext cx="5760720" cy="20116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48" name="Thermomet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92640"/>
            <a:ext cx="365760" cy="365760"/>
          </a:xfrm>
          <a:prstGeom prst="rect">
            <a:avLst/>
          </a:prstGeom>
        </p:spPr>
      </p:pic>
      <p:sp>
        <p:nvSpPr>
          <p:cNvPr id="49" name="Gauge title"/>
          <p:cNvSpPr txBox="1"/>
          <p:nvPr/>
        </p:nvSpPr>
        <p:spPr>
          <a:xfrm>
            <a:off x="1371600" y="9692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당일 수온 예보</a:t>
            </a:r>
            <a:endParaRPr lang="en-US" sz="1500" dirty="0"/>
          </a:p>
        </p:txBody>
      </p:sp>
      <p:sp>
        <p:nvSpPr>
          <p:cNvPr id="50" name="Gauge value"/>
          <p:cNvSpPr txBox="1"/>
          <p:nvPr/>
        </p:nvSpPr>
        <p:spPr>
          <a:xfrm>
            <a:off x="4206240" y="9646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36.5℃</a:t>
            </a:r>
            <a:endParaRPr lang="en-US" sz="2200" dirty="0"/>
          </a:p>
        </p:txBody>
      </p:sp>
      <p:sp>
        <p:nvSpPr>
          <p:cNvPr id="51" name="Gauge track"/>
          <p:cNvSpPr/>
          <p:nvPr/>
        </p:nvSpPr>
        <p:spPr>
          <a:xfrm>
            <a:off x="868680" y="10332720"/>
            <a:ext cx="5120640" cy="20116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2" name="Gauge fill"/>
          <p:cNvSpPr/>
          <p:nvPr/>
        </p:nvSpPr>
        <p:spPr>
          <a:xfrm>
            <a:off x="868680" y="10332720"/>
            <a:ext cx="4506163" cy="20116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3" name="Gauge caption"/>
          <p:cNvSpPr txBox="1"/>
          <p:nvPr/>
        </p:nvSpPr>
        <p:spPr>
          <a:xfrm>
            <a:off x="868680" y="10698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여러분의 축하 덕분에 따뜻할 예정입니다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31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chemeClr val="accent1"/>
                </a:solidFill>
              </a:rPr>
              <a:t>LOCATION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오시는 길</a:t>
            </a:r>
            <a:endParaRPr lang="en-US" sz="3000" dirty="0"/>
          </a:p>
        </p:txBody>
      </p:sp>
      <p:sp>
        <p:nvSpPr>
          <p:cNvPr id="4" name="Venue card"/>
          <p:cNvSpPr/>
          <p:nvPr/>
        </p:nvSpPr>
        <p:spPr>
          <a:xfrm>
            <a:off x="548640" y="2148840"/>
            <a:ext cx="5760720" cy="1737360"/>
          </a:xfrm>
          <a:prstGeom prst="roundRect">
            <a:avLst>
              <a:gd name="adj" fmla="val 1157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5" name="Pi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23160"/>
            <a:ext cx="411480" cy="411480"/>
          </a:xfrm>
          <a:prstGeom prst="rect">
            <a:avLst/>
          </a:prstGeom>
        </p:spPr>
      </p:pic>
      <p:sp>
        <p:nvSpPr>
          <p:cNvPr id="6" name="Venue name"/>
          <p:cNvSpPr txBox="1"/>
          <p:nvPr/>
        </p:nvSpPr>
        <p:spPr>
          <a:xfrm>
            <a:off x="1463040" y="2377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양산 더 지펠리체</a:t>
            </a:r>
            <a:endParaRPr lang="en-US" sz="2400" dirty="0"/>
          </a:p>
        </p:txBody>
      </p:sp>
      <p:sp>
        <p:nvSpPr>
          <p:cNvPr id="7" name="Venue hall"/>
          <p:cNvSpPr txBox="1"/>
          <p:nvPr/>
        </p:nvSpPr>
        <p:spPr>
          <a:xfrm>
            <a:off x="146304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5층 팰리스홀</a:t>
            </a:r>
            <a:endParaRPr lang="en-US" sz="1500" dirty="0"/>
          </a:p>
        </p:txBody>
      </p:sp>
      <p:sp>
        <p:nvSpPr>
          <p:cNvPr id="8" name="Venue address"/>
          <p:cNvSpPr txBox="1"/>
          <p:nvPr/>
        </p:nvSpPr>
        <p:spPr>
          <a:xfrm>
            <a:off x="14630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경남 양산시 동면 남양산로 (지펠리체 웨딩)</a:t>
            </a:r>
            <a:endParaRPr lang="en-US" sz="1200" dirty="0"/>
          </a:p>
        </p:txBody>
      </p:sp>
      <p:sp>
        <p:nvSpPr>
          <p:cNvPr id="9" name="Roof"/>
          <p:cNvSpPr/>
          <p:nvPr/>
        </p:nvSpPr>
        <p:spPr>
          <a:xfrm>
            <a:off x="960120" y="3840480"/>
            <a:ext cx="2926080" cy="548640"/>
          </a:xfrm>
          <a:prstGeom prst="triangl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Floor 5"/>
          <p:cNvSpPr/>
          <p:nvPr/>
        </p:nvSpPr>
        <p:spPr>
          <a:xfrm>
            <a:off x="1097280" y="4434840"/>
            <a:ext cx="2651760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Floor label 5"/>
          <p:cNvSpPr txBox="1"/>
          <p:nvPr/>
        </p:nvSpPr>
        <p:spPr>
          <a:xfrm>
            <a:off x="1097280" y="4434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5F  팰리스홀</a:t>
            </a:r>
            <a:endParaRPr lang="en-US" sz="1600" dirty="0"/>
          </a:p>
        </p:txBody>
      </p:sp>
      <p:sp>
        <p:nvSpPr>
          <p:cNvPr id="12" name="Floor 4"/>
          <p:cNvSpPr/>
          <p:nvPr/>
        </p:nvSpPr>
        <p:spPr>
          <a:xfrm>
            <a:off x="1097280" y="5239512"/>
            <a:ext cx="265176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Floor label 4"/>
          <p:cNvSpPr txBox="1"/>
          <p:nvPr/>
        </p:nvSpPr>
        <p:spPr>
          <a:xfrm>
            <a:off x="1097280" y="52395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4F</a:t>
            </a:r>
            <a:endParaRPr lang="en-US" sz="1200" dirty="0"/>
          </a:p>
        </p:txBody>
      </p:sp>
      <p:sp>
        <p:nvSpPr>
          <p:cNvPr id="14" name="Floor 3"/>
          <p:cNvSpPr/>
          <p:nvPr/>
        </p:nvSpPr>
        <p:spPr>
          <a:xfrm>
            <a:off x="1097280" y="6044184"/>
            <a:ext cx="265176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Floor label 3"/>
          <p:cNvSpPr txBox="1"/>
          <p:nvPr/>
        </p:nvSpPr>
        <p:spPr>
          <a:xfrm>
            <a:off x="1097280" y="604418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3F</a:t>
            </a:r>
            <a:endParaRPr lang="en-US" sz="1200" dirty="0"/>
          </a:p>
        </p:txBody>
      </p:sp>
      <p:sp>
        <p:nvSpPr>
          <p:cNvPr id="16" name="Floor 2"/>
          <p:cNvSpPr/>
          <p:nvPr/>
        </p:nvSpPr>
        <p:spPr>
          <a:xfrm>
            <a:off x="1097280" y="6848856"/>
            <a:ext cx="265176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Floor label 2"/>
          <p:cNvSpPr txBox="1"/>
          <p:nvPr/>
        </p:nvSpPr>
        <p:spPr>
          <a:xfrm>
            <a:off x="1097280" y="6848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2F</a:t>
            </a:r>
            <a:endParaRPr lang="en-US" sz="1200" dirty="0"/>
          </a:p>
        </p:txBody>
      </p:sp>
      <p:sp>
        <p:nvSpPr>
          <p:cNvPr id="18" name="Floor 1"/>
          <p:cNvSpPr/>
          <p:nvPr/>
        </p:nvSpPr>
        <p:spPr>
          <a:xfrm>
            <a:off x="1097280" y="7653528"/>
            <a:ext cx="265176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Floor label 1"/>
          <p:cNvSpPr txBox="1"/>
          <p:nvPr/>
        </p:nvSpPr>
        <p:spPr>
          <a:xfrm>
            <a:off x="1097280" y="76535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1F</a:t>
            </a:r>
            <a:endParaRPr lang="en-US" sz="1200" dirty="0"/>
          </a:p>
        </p:txBody>
      </p:sp>
      <p:sp>
        <p:nvSpPr>
          <p:cNvPr id="20" name="Here arrow"/>
          <p:cNvSpPr/>
          <p:nvPr/>
        </p:nvSpPr>
        <p:spPr>
          <a:xfrm>
            <a:off x="3886200" y="4800600"/>
            <a:ext cx="6400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21" name="Here label"/>
          <p:cNvSpPr txBox="1"/>
          <p:nvPr/>
        </p:nvSpPr>
        <p:spPr>
          <a:xfrm>
            <a:off x="4617720" y="4389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여기입니다!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5층으로 오세요</a:t>
            </a:r>
            <a:endParaRPr lang="en-US" sz="1600" dirty="0"/>
          </a:p>
        </p:txBody>
      </p:sp>
      <p:sp>
        <p:nvSpPr>
          <p:cNvPr id="22" name="Ground"/>
          <p:cNvSpPr/>
          <p:nvPr/>
        </p:nvSpPr>
        <p:spPr>
          <a:xfrm>
            <a:off x="731520" y="8421624"/>
            <a:ext cx="33832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3" name="Nav caption"/>
          <p:cNvSpPr txBox="1"/>
          <p:nvPr/>
        </p:nvSpPr>
        <p:spPr>
          <a:xfrm>
            <a:off x="548640" y="8595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내비게이션에서 '더 지펠리체'를 검색하세요</a:t>
            </a:r>
            <a:endParaRPr lang="en-US" sz="1300" dirty="0"/>
          </a:p>
        </p:txBody>
      </p:sp>
      <p:sp>
        <p:nvSpPr>
          <p:cNvPr id="24" name="Nav 네이버 지도">
            <a:hlinkClick r:id="rId3" tooltip="네이버 지도"/>
          </p:cNvPr>
          <p:cNvSpPr/>
          <p:nvPr/>
        </p:nvSpPr>
        <p:spPr>
          <a:xfrm>
            <a:off x="548640" y="914400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5" name="Nav text 네이버 지도"/>
          <p:cNvSpPr txBox="1"/>
          <p:nvPr/>
        </p:nvSpPr>
        <p:spPr>
          <a:xfrm>
            <a:off x="548640" y="9144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네이버 지도</a:t>
            </a:r>
            <a:endParaRPr lang="en-US" sz="1400" dirty="0"/>
          </a:p>
        </p:txBody>
      </p:sp>
      <p:sp>
        <p:nvSpPr>
          <p:cNvPr id="26" name="Nav 카카오맵">
            <a:hlinkClick r:id="rId4" tooltip="카카오맵"/>
          </p:cNvPr>
          <p:cNvSpPr/>
          <p:nvPr/>
        </p:nvSpPr>
        <p:spPr>
          <a:xfrm>
            <a:off x="2560320" y="914400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/>
        </p:spPr>
      </p:sp>
      <p:sp>
        <p:nvSpPr>
          <p:cNvPr id="27" name="Nav text 카카오맵"/>
          <p:cNvSpPr txBox="1"/>
          <p:nvPr/>
        </p:nvSpPr>
        <p:spPr>
          <a:xfrm>
            <a:off x="2560320" y="9144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카카오맵</a:t>
            </a:r>
            <a:endParaRPr lang="en-US" sz="1400" dirty="0"/>
          </a:p>
        </p:txBody>
      </p:sp>
      <p:sp>
        <p:nvSpPr>
          <p:cNvPr id="28" name="Nav 티맵">
            <a:hlinkClick r:id="rId5" tooltip="티맵"/>
          </p:cNvPr>
          <p:cNvSpPr/>
          <p:nvPr/>
        </p:nvSpPr>
        <p:spPr>
          <a:xfrm>
            <a:off x="4572000" y="914400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9" name="Nav text 티맵"/>
          <p:cNvSpPr txBox="1"/>
          <p:nvPr/>
        </p:nvSpPr>
        <p:spPr>
          <a:xfrm>
            <a:off x="4572000" y="9144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티맵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31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chemeClr val="accent1"/>
                </a:solidFill>
              </a:rPr>
              <a:t>WITH GRATITUDE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마음 전하실 곳</a:t>
            </a:r>
            <a:endParaRPr lang="en-US" sz="3000" dirty="0"/>
          </a:p>
        </p:txBody>
      </p:sp>
      <p:sp>
        <p:nvSpPr>
          <p:cNvPr id="4" name="Account intro"/>
          <p:cNvSpPr txBox="1"/>
          <p:nvPr/>
        </p:nvSpPr>
        <p:spPr>
          <a:xfrm>
            <a:off x="548640" y="19202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참석이 어려우신 분들을 위해 조심스레 적어 둡니다.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보내주신 마음, 오래도록 잊지 않겠습니다.</a:t>
            </a:r>
            <a:endParaRPr lang="en-US" sz="1300" dirty="0"/>
          </a:p>
        </p:txBody>
      </p:sp>
      <p:sp>
        <p:nvSpPr>
          <p:cNvPr id="5" name="Account card 1"/>
          <p:cNvSpPr/>
          <p:nvPr/>
        </p:nvSpPr>
        <p:spPr>
          <a:xfrm>
            <a:off x="548640" y="3017520"/>
            <a:ext cx="5760720" cy="1691640"/>
          </a:xfrm>
          <a:prstGeom prst="roundRect">
            <a:avLst>
              <a:gd name="adj" fmla="val 118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Account icon bg 1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7" name="Account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474720"/>
            <a:ext cx="274320" cy="274320"/>
          </a:xfrm>
          <a:prstGeom prst="rect">
            <a:avLst/>
          </a:prstGeom>
        </p:spPr>
      </p:pic>
      <p:sp>
        <p:nvSpPr>
          <p:cNvPr id="8" name="Account side 1"/>
          <p:cNvSpPr txBox="1"/>
          <p:nvPr/>
        </p:nvSpPr>
        <p:spPr>
          <a:xfrm>
            <a:off x="160020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신랑 측</a:t>
            </a:r>
            <a:endParaRPr lang="en-US" sz="1500" dirty="0"/>
          </a:p>
        </p:txBody>
      </p:sp>
      <p:sp>
        <p:nvSpPr>
          <p:cNvPr id="9" name="Account number 1"/>
          <p:cNvSpPr txBox="1"/>
          <p:nvPr/>
        </p:nvSpPr>
        <p:spPr>
          <a:xfrm>
            <a:off x="86868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국민은행  123456-04-123456</a:t>
            </a:r>
            <a:endParaRPr lang="en-US" sz="1600" dirty="0"/>
          </a:p>
        </p:txBody>
      </p:sp>
      <p:sp>
        <p:nvSpPr>
          <p:cNvPr id="10" name="Account holder 1"/>
          <p:cNvSpPr txBox="1"/>
          <p:nvPr/>
        </p:nvSpPr>
        <p:spPr>
          <a:xfrm>
            <a:off x="868680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예금주 손규수</a:t>
            </a:r>
            <a:endParaRPr lang="en-US" sz="1200" dirty="0"/>
          </a:p>
        </p:txBody>
      </p:sp>
      <p:sp>
        <p:nvSpPr>
          <p:cNvPr id="11" name="Account card 2"/>
          <p:cNvSpPr/>
          <p:nvPr/>
        </p:nvSpPr>
        <p:spPr>
          <a:xfrm>
            <a:off x="548640" y="4983480"/>
            <a:ext cx="5760720" cy="1691640"/>
          </a:xfrm>
          <a:prstGeom prst="roundRect">
            <a:avLst>
              <a:gd name="adj" fmla="val 118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Account icon bg 2"/>
          <p:cNvSpPr/>
          <p:nvPr/>
        </p:nvSpPr>
        <p:spPr>
          <a:xfrm>
            <a:off x="868680" y="530352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3" name="Account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440680"/>
            <a:ext cx="274320" cy="274320"/>
          </a:xfrm>
          <a:prstGeom prst="rect">
            <a:avLst/>
          </a:prstGeom>
        </p:spPr>
      </p:pic>
      <p:sp>
        <p:nvSpPr>
          <p:cNvPr id="14" name="Account side 2"/>
          <p:cNvSpPr txBox="1"/>
          <p:nvPr/>
        </p:nvSpPr>
        <p:spPr>
          <a:xfrm>
            <a:off x="1600200" y="5303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신부 측</a:t>
            </a:r>
            <a:endParaRPr lang="en-US" sz="1500" dirty="0"/>
          </a:p>
        </p:txBody>
      </p:sp>
      <p:sp>
        <p:nvSpPr>
          <p:cNvPr id="15" name="Account number 2"/>
          <p:cNvSpPr txBox="1"/>
          <p:nvPr/>
        </p:nvSpPr>
        <p:spPr>
          <a:xfrm>
            <a:off x="868680" y="5943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경남은행  789012-52-654321</a:t>
            </a:r>
            <a:endParaRPr lang="en-US" sz="1600" dirty="0"/>
          </a:p>
        </p:txBody>
      </p:sp>
      <p:sp>
        <p:nvSpPr>
          <p:cNvPr id="16" name="Account holder 2"/>
          <p:cNvSpPr txBox="1"/>
          <p:nvPr/>
        </p:nvSpPr>
        <p:spPr>
          <a:xfrm>
            <a:off x="868680" y="6281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예금주 문세화</a:t>
            </a:r>
            <a:endParaRPr lang="en-US" sz="1200" dirty="0"/>
          </a:p>
        </p:txBody>
      </p:sp>
      <p:sp>
        <p:nvSpPr>
          <p:cNvPr id="17" name="Closing heart bg"/>
          <p:cNvSpPr/>
          <p:nvPr/>
        </p:nvSpPr>
        <p:spPr>
          <a:xfrm>
            <a:off x="3017520" y="7452360"/>
            <a:ext cx="822960" cy="822960"/>
          </a:xfrm>
          <a:prstGeom prst="ellipse">
            <a:avLst/>
          </a:prstGeom>
          <a:solidFill>
            <a:srgbClr val="FCA5A5">
              <a:alpha val="15000"/>
            </a:srgbClr>
          </a:solidFill>
          <a:ln/>
        </p:spPr>
      </p:sp>
      <p:pic>
        <p:nvPicPr>
          <p:cNvPr id="18" name="Closing hear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7662672"/>
            <a:ext cx="402336" cy="402336"/>
          </a:xfrm>
          <a:prstGeom prst="rect">
            <a:avLst/>
          </a:prstGeom>
        </p:spPr>
      </p:pic>
      <p:sp>
        <p:nvSpPr>
          <p:cNvPr id="19" name="Thanks"/>
          <p:cNvSpPr txBox="1"/>
          <p:nvPr/>
        </p:nvSpPr>
        <p:spPr>
          <a:xfrm>
            <a:off x="548640" y="8503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함께해 주시는 모든 분들께</a:t>
            </a:r>
            <a:endParaRPr lang="en-US" sz="2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진심으로 감사드립니다</a:t>
            </a:r>
            <a:endParaRPr lang="en-US" sz="2000" dirty="0"/>
          </a:p>
        </p:txBody>
      </p:sp>
      <p:sp>
        <p:nvSpPr>
          <p:cNvPr id="20" name="Signature"/>
          <p:cNvSpPr txBox="1"/>
          <p:nvPr/>
        </p:nvSpPr>
        <p:spPr>
          <a:xfrm>
            <a:off x="548640" y="9555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규수 그리고 세화 올림</a:t>
            </a:r>
            <a:endParaRPr lang="en-US" sz="1500" dirty="0"/>
          </a:p>
        </p:txBody>
      </p:sp>
      <p:sp>
        <p:nvSpPr>
          <p:cNvPr id="21" name="Copyright"/>
          <p:cNvSpPr txBox="1"/>
          <p:nvPr/>
        </p:nvSpPr>
        <p:spPr>
          <a:xfrm>
            <a:off x="548640" y="11247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chemeClr val="bg2"/>
                </a:solidFill>
              </a:rPr>
              <a:t>© 2026 GyuSoo &amp; SeHwa Wedding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yuSoo SeHwa Sky to Sea">
  <a:themeElements>
    <a:clrScheme name="GyuSoo SeHwa Sky to Sea">
      <a:dk1>
        <a:srgbClr val="030712"/>
      </a:dk1>
      <a:lt1>
        <a:srgbClr val="FFFFFF"/>
      </a:lt1>
      <a:dk2>
        <a:srgbClr val="0F172A"/>
      </a:dk2>
      <a:lt2>
        <a:srgbClr val="CBD5E1"/>
      </a:lt2>
      <a:accent1>
        <a:srgbClr val="2DD4BF"/>
      </a:accent1>
      <a:accent2>
        <a:srgbClr val="A5B4FC"/>
      </a:accent2>
      <a:accent3>
        <a:srgbClr val="0D9488"/>
      </a:accent3>
      <a:accent4>
        <a:srgbClr val="99F6E4"/>
      </a:accent4>
      <a:accent5>
        <a:srgbClr val="FDE68A"/>
      </a:accent5>
      <a:accent6>
        <a:srgbClr val="FCA5A5"/>
      </a:accent6>
      <a:hlink>
        <a:srgbClr val="5EEAD4"/>
      </a:hlink>
      <a:folHlink>
        <a:srgbClr val="A5B4FC"/>
      </a:folHlink>
    </a:clrScheme>
    <a:fontScheme name="GyuSoo SeHwa Sky to Sea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손규수 &amp; 문세화 결혼합니다</dc:title>
  <dc:subject>PptxGenJS Presentation</dc:subject>
  <dc:creator>GyuSoo &amp; SeHwa</dc:creator>
  <cp:lastModifiedBy>GyuSoo &amp; SeHwa</cp:lastModifiedBy>
  <cp:revision>1</cp:revision>
  <dcterms:created xsi:type="dcterms:W3CDTF">2026-10-19T16:14:09Z</dcterms:created>
  <dcterms:modified xsi:type="dcterms:W3CDTF">2026-10-19T16:14:09Z</dcterms:modified>
</cp:coreProperties>
</file>